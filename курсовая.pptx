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CEAEA"/>
    <a:srgbClr val="FF6699"/>
    <a:srgbClr val="CC66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9" autoAdjust="0"/>
    <p:restoredTop sz="94660"/>
  </p:normalViewPr>
  <p:slideViewPr>
    <p:cSldViewPr snapToGrid="0">
      <p:cViewPr varScale="1">
        <p:scale>
          <a:sx n="82" d="100"/>
          <a:sy n="82" d="100"/>
        </p:scale>
        <p:origin x="102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03C3C-3405-4414-85E9-9F8645A9D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FE225-1FEB-4973-BCCE-177B1FD16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5D71E-A821-406E-BC06-D81F4085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3E632-5D57-4C59-8F79-36C144F5B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3F00-A043-4630-B6AB-B5C3CA69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59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B87E2-9286-4514-881E-2EA41B06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044CA-03AD-4CA2-9355-026A351FE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7595-D959-4559-9D2D-FCA02E7FB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1E81A-B1DE-4F53-9469-04A7E7746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7C1C5-1009-4691-9BE3-1E2E9823F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91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A0F3-5309-451C-9066-DF5D11E9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C1C89-6AF2-4ED0-90D7-F306D761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3CBF8-C1A2-48D6-9220-0ED8F5A1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6A728-0572-4136-99F2-7C959275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E2BF9-03D8-470C-93CF-DE077646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7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F68D-8718-4D82-880A-36FD934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A3B60-15C0-4DD2-B67B-27C15D1B8C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EA397-0E51-45A6-ACC6-460543BCC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84D28-EE59-454F-A5AB-8CAE05B6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74C64-631B-456E-BF7D-377D43299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4B4CE-7CBE-4DBE-9138-7CB940A7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29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028E-8F3C-4F1C-89B3-A3983F946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76E2-D728-4788-BF4A-2745B71D0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3DF25-BFEF-4663-966B-BCF6CF03E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01E8D-C261-4ECE-9A9E-B009A7194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B54586-880E-4893-9D9F-D8A1E0737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D6A1D6-7A9C-4058-A620-B2A1CAF41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16514F-D69A-4B60-9E84-0A3FF1D23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E6BFB1-0F28-4F2C-BA81-AC148912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90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EC7DC-DC9D-4E09-941C-BF7200C1B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CD3FDB-598B-4542-AC6B-86E550CA8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BB96E8-94E9-4E33-91FA-75A91A12A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D420AD-DC40-4B1A-901F-5E86AD5C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86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B90AC-956E-4EA3-BE93-D0FBB5633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27B117-D80A-4715-B3F5-93078F95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793-51AC-4F1E-ACA6-8FD062092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223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486E-D650-4965-A39E-64433922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C42B-A845-4446-948B-0E9CB40EC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A2FD1-A5BB-400D-857A-F55D25C42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00BC3-554B-4DAF-8833-BC9A4D8F7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EB253-431C-4D26-8546-88D4D580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99E81-D0BF-4999-912C-F2BDF489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020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9CF0-B0FD-481E-8B8A-1505D969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B62CA-3C8C-4FD3-994D-4D63733CC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79498-C513-41CA-854D-F2615DF82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DA1AE-8144-42A3-B083-C6D3E0CA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9E3FA-AABF-49DD-8647-F86499D07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D117B-EB3C-4152-8E18-EF1BA70A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56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282B-3643-4205-818B-EE71FA7D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3042A-ADC3-4B4D-975A-BE8733FA1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29E63-CF3D-46D0-A515-5144C951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1CE08-1390-466D-B1D3-E367A5D59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A109-88C0-4022-9AFC-5C8BEF9E7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791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4D2BD3-F68C-4DCE-805D-12EFA74BD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3F132-63B1-489B-9A46-15C738086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867CC-4A35-439A-8918-60604F59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4B88-7C38-44C3-AEAB-75F6FDBC0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4622B-5C3A-45E9-9922-AFC45F5E6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3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F4F02-C2A5-4180-B5C0-AA3225383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D875D-D169-4A77-8BBA-EC44DD58D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B982-8A32-458F-AED2-7F2B3BCA2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23FC8-A1F4-4B7B-B00F-C4E83F50158F}" type="datetimeFigureOut">
              <a:rPr lang="ru-RU" smtClean="0"/>
              <a:t>05.05.2026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580EA-267E-4A70-A7D1-9894FD6D3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0893-7691-4094-AB99-B897E931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C0C77-965F-428E-B00B-F06B968143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816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CC">
            <a:alpha val="4745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227B8A6-404B-4DE2-9004-41B485248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FDFC21-25EC-4894-8443-A529368AC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80175"/>
            <a:ext cx="10515600" cy="3000375"/>
          </a:xfrm>
        </p:spPr>
        <p:txBody>
          <a:bodyPr>
            <a:normAutofit fontScale="90000"/>
          </a:bodyPr>
          <a:lstStyle/>
          <a:p>
            <a:pPr algn="ctr"/>
            <a:br>
              <a:rPr lang="ru-RU" sz="4400" dirty="0"/>
            </a:br>
            <a:br>
              <a:rPr lang="ru-RU" sz="4400" dirty="0"/>
            </a:br>
            <a:br>
              <a:rPr lang="ru-RU" sz="4400" dirty="0"/>
            </a:br>
            <a:br>
              <a:rPr lang="ru-RU" sz="4400" dirty="0"/>
            </a:br>
            <a:br>
              <a:rPr lang="ru-RU" sz="4400" dirty="0"/>
            </a:br>
            <a:br>
              <a:rPr lang="ru-RU" sz="4400" dirty="0"/>
            </a:br>
            <a:br>
              <a:rPr lang="ru-RU" sz="4400" dirty="0"/>
            </a:br>
            <a:br>
              <a:rPr lang="ru-RU" dirty="0"/>
            </a:br>
            <a:r>
              <a:rPr lang="ru-RU" dirty="0">
                <a:solidFill>
                  <a:srgbClr val="FF6699"/>
                </a:solidFill>
              </a:rPr>
              <a:t>Курсовая работа</a:t>
            </a:r>
            <a:br>
              <a:rPr lang="ru-RU" sz="3600" dirty="0">
                <a:solidFill>
                  <a:srgbClr val="FF6699"/>
                </a:solidFill>
              </a:rPr>
            </a:br>
            <a:r>
              <a:rPr lang="ru-RU" sz="3600" dirty="0">
                <a:solidFill>
                  <a:srgbClr val="FF6699"/>
                </a:solidFill>
              </a:rPr>
              <a:t>тема: </a:t>
            </a:r>
            <a:r>
              <a:rPr lang="ru-RU" sz="3600" dirty="0">
                <a:solidFill>
                  <a:srgbClr val="FF6699"/>
                </a:solidFill>
                <a:latin typeface="Calibri Light (Headings)"/>
              </a:rPr>
              <a:t>разработка web‑сервиса
«Интернет-магазин мебели»</a:t>
            </a:r>
            <a:br>
              <a:rPr lang="ru-RU" sz="6000" b="1" dirty="0">
                <a:solidFill>
                  <a:srgbClr val="25362C"/>
                </a:solidFill>
                <a:latin typeface="Calibri Light (Headings)"/>
              </a:rPr>
            </a:br>
            <a:endParaRPr lang="ru-RU" dirty="0">
              <a:latin typeface="Calibri Light (Headings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C3F6A-BD84-4A69-A24B-2E979D4D28F5}"/>
              </a:ext>
            </a:extLst>
          </p:cNvPr>
          <p:cNvSpPr txBox="1"/>
          <p:nvPr/>
        </p:nvSpPr>
        <p:spPr>
          <a:xfrm>
            <a:off x="844550" y="114465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FF6699"/>
                </a:solidFill>
              </a:rPr>
              <a:t>ГОСУДАРСТВЕННОЕ АВТОНОМНОЕ ПРОФЕССИОНАЛЬНОЕ ОБРАЗОВАТЕЛЬНОЕ УЧРЕЖДЕНИЕ ИРКУТСКОЙ ОБЛАСТИ «АНГАРСКИЙ ТЕХНИКУМ СТРОИТЕЛЬНЫХ ТЕХНОЛОГИЙ»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FE647BC-8820-489D-A4DC-E7C52502E4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07400" y="5180550"/>
            <a:ext cx="3422650" cy="14742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 b="0">
                <a:solidFill>
                  <a:srgbClr val="B0BEC5"/>
                </a:solidFill>
                <a:latin typeface="Calibri"/>
              </a:defRPr>
            </a:pPr>
            <a:r>
              <a:rPr lang="ru-RU" dirty="0">
                <a:solidFill>
                  <a:srgbClr val="FF6699"/>
                </a:solidFill>
              </a:rPr>
              <a:t>Разработал:  Николаенко А.И.</a:t>
            </a:r>
          </a:p>
          <a:p>
            <a:pPr>
              <a:defRPr sz="1800" b="0">
                <a:solidFill>
                  <a:srgbClr val="B0BEC5"/>
                </a:solidFill>
                <a:latin typeface="Calibri"/>
              </a:defRPr>
            </a:pPr>
            <a:r>
              <a:rPr lang="ru-RU" dirty="0">
                <a:solidFill>
                  <a:srgbClr val="FF6699"/>
                </a:solidFill>
              </a:rPr>
              <a:t>Руководитель:  Денисюк А.В.</a:t>
            </a:r>
          </a:p>
          <a:p>
            <a:pPr>
              <a:defRPr sz="1800" b="0">
                <a:solidFill>
                  <a:srgbClr val="B0BEC5"/>
                </a:solidFill>
                <a:latin typeface="Calibri"/>
              </a:defRPr>
            </a:pPr>
            <a:endParaRPr lang="ru-RU" dirty="0"/>
          </a:p>
          <a:p>
            <a:pPr>
              <a:defRPr sz="1800" b="0">
                <a:solidFill>
                  <a:srgbClr val="B0BEC5"/>
                </a:solidFill>
                <a:latin typeface="Calibri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974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A4424C-6C3C-4B89-B61B-DFB6D11E8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C56547-8BCB-4D16-AA1D-79089B74AF42}"/>
              </a:ext>
            </a:extLst>
          </p:cNvPr>
          <p:cNvSpPr txBox="1"/>
          <p:nvPr/>
        </p:nvSpPr>
        <p:spPr>
          <a:xfrm>
            <a:off x="726141" y="766482"/>
            <a:ext cx="232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6699"/>
                </a:solidFill>
              </a:rPr>
              <a:t>Актуальность работы: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DA0782-37F5-4677-B2B1-8321277EED66}"/>
              </a:ext>
            </a:extLst>
          </p:cNvPr>
          <p:cNvSpPr txBox="1"/>
          <p:nvPr/>
        </p:nvSpPr>
        <p:spPr>
          <a:xfrm>
            <a:off x="726141" y="1025133"/>
            <a:ext cx="33483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6699"/>
                </a:solidFill>
              </a:rPr>
              <a:t>рост онлайн-сегмента мебельного рынка и возможность создания эффективных решений на базе современных технологий без привлечения крупных ресурсов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4D18FD-C947-4AAA-A003-865D48E45E8A}"/>
              </a:ext>
            </a:extLst>
          </p:cNvPr>
          <p:cNvSpPr txBox="1"/>
          <p:nvPr/>
        </p:nvSpPr>
        <p:spPr>
          <a:xfrm>
            <a:off x="726140" y="2853444"/>
            <a:ext cx="232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6699"/>
                </a:solidFill>
              </a:rPr>
              <a:t>Цель работы</a:t>
            </a:r>
            <a:r>
              <a:rPr lang="ru-RU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98835F-F91D-4127-8636-252D5E52E4E9}"/>
              </a:ext>
            </a:extLst>
          </p:cNvPr>
          <p:cNvSpPr txBox="1"/>
          <p:nvPr/>
        </p:nvSpPr>
        <p:spPr>
          <a:xfrm>
            <a:off x="726141" y="3112095"/>
            <a:ext cx="33483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6699"/>
                </a:solidFill>
              </a:rPr>
              <a:t>проектирование и разработка интернет-магазина мебели с фокусом на реализацию базовых компонентов: адаптивного каталога товаров, системы фильтрации и сортировки, корзины покупок, личного кабинета пользователя и административной панели управления ассортиментом.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8BA80F-90CD-4921-BA03-7CF00922214B}"/>
              </a:ext>
            </a:extLst>
          </p:cNvPr>
          <p:cNvSpPr txBox="1"/>
          <p:nvPr/>
        </p:nvSpPr>
        <p:spPr>
          <a:xfrm>
            <a:off x="6970059" y="766482"/>
            <a:ext cx="2326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6699"/>
                </a:solidFill>
              </a:rPr>
              <a:t>Цель работы</a:t>
            </a:r>
            <a:r>
              <a:rPr lang="ru-RU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E826B-5315-4CE9-8438-F6AE07AA68A3}"/>
              </a:ext>
            </a:extLst>
          </p:cNvPr>
          <p:cNvSpPr txBox="1"/>
          <p:nvPr/>
        </p:nvSpPr>
        <p:spPr>
          <a:xfrm>
            <a:off x="6970058" y="1135814"/>
            <a:ext cx="47154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Провести анализ существующих решений в сфере онлайн-продаж мебели и определить ключевые требования к функционалу интернет-магазина.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Выбрать подходящие технологии и инструменты для разработки. 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Разработать архитектуру информационной системы с разделением на клиентскую и серверную часть.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Спроектировать реляционную модель базы данных.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Реализовать серверную часть, обеспечивающую управление каталогом товаров, аутентификацию пользователей, работу с корзиной и оформление заказов.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rgbClr val="FF6699"/>
                </a:solidFill>
              </a:rPr>
              <a:t>Разработать адаптивный пользовательский интерфейс</a:t>
            </a:r>
          </a:p>
        </p:txBody>
      </p:sp>
    </p:spTree>
    <p:extLst>
      <p:ext uri="{BB962C8B-B14F-4D97-AF65-F5344CB8AC3E}">
        <p14:creationId xmlns:p14="http://schemas.microsoft.com/office/powerpoint/2010/main" val="338463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15DF4-08D9-4BE1-8E29-8EF0B6A46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4513"/>
            <a:ext cx="7054269" cy="4303487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AD765984-25B0-4CF0-B235-FF67363EF4E0}"/>
              </a:ext>
            </a:extLst>
          </p:cNvPr>
          <p:cNvSpPr txBox="1"/>
          <p:nvPr/>
        </p:nvSpPr>
        <p:spPr>
          <a:xfrm>
            <a:off x="7909709" y="164813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Выбор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технологий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470938-233D-49C8-805C-EF27E4F993D8}"/>
              </a:ext>
            </a:extLst>
          </p:cNvPr>
          <p:cNvSpPr/>
          <p:nvPr/>
        </p:nvSpPr>
        <p:spPr>
          <a:xfrm>
            <a:off x="8544709" y="764600"/>
            <a:ext cx="2743200" cy="38100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9906085-DAF3-49AF-A7CD-56F4A2137D3D}"/>
              </a:ext>
            </a:extLst>
          </p:cNvPr>
          <p:cNvSpPr/>
          <p:nvPr/>
        </p:nvSpPr>
        <p:spPr>
          <a:xfrm>
            <a:off x="3058309" y="1371600"/>
            <a:ext cx="2651760" cy="5029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29B915E-46CE-422E-A5CF-883559CD97CF}"/>
              </a:ext>
            </a:extLst>
          </p:cNvPr>
          <p:cNvSpPr txBox="1"/>
          <p:nvPr/>
        </p:nvSpPr>
        <p:spPr>
          <a:xfrm>
            <a:off x="3241189" y="1554480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Django (Python)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DB67C13-FC01-4CEA-8888-C8730AB3FDFD}"/>
              </a:ext>
            </a:extLst>
          </p:cNvPr>
          <p:cNvSpPr txBox="1"/>
          <p:nvPr/>
        </p:nvSpPr>
        <p:spPr>
          <a:xfrm>
            <a:off x="3241189" y="20116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1B998B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Серверная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часть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E4F4C1-5A59-4CAD-9799-8A96265B3EF4}"/>
              </a:ext>
            </a:extLst>
          </p:cNvPr>
          <p:cNvSpPr/>
          <p:nvPr/>
        </p:nvSpPr>
        <p:spPr>
          <a:xfrm>
            <a:off x="3515509" y="2423160"/>
            <a:ext cx="1737360" cy="38100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BFC1D965-8237-4C11-B797-9F40C20EA91B}"/>
              </a:ext>
            </a:extLst>
          </p:cNvPr>
          <p:cNvSpPr txBox="1"/>
          <p:nvPr/>
        </p:nvSpPr>
        <p:spPr>
          <a:xfrm>
            <a:off x="3332629" y="26060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ORM для работы с БД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8A4B550-3015-4EA6-8444-592EF339AC3E}"/>
              </a:ext>
            </a:extLst>
          </p:cNvPr>
          <p:cNvSpPr txBox="1"/>
          <p:nvPr/>
        </p:nvSpPr>
        <p:spPr>
          <a:xfrm>
            <a:off x="3332629" y="310896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Встроенная админ-панель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3074AB8B-A19A-4743-9F18-58E67DBC5CA7}"/>
              </a:ext>
            </a:extLst>
          </p:cNvPr>
          <p:cNvSpPr txBox="1"/>
          <p:nvPr/>
        </p:nvSpPr>
        <p:spPr>
          <a:xfrm>
            <a:off x="3332629" y="3456653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• </a:t>
            </a:r>
            <a:r>
              <a:rPr dirty="0" err="1">
                <a:solidFill>
                  <a:srgbClr val="FF6699"/>
                </a:solidFill>
              </a:rPr>
              <a:t>Система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аутентификации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02E20A8F-322A-4084-846F-57A5D1D84E15}"/>
              </a:ext>
            </a:extLst>
          </p:cNvPr>
          <p:cNvSpPr txBox="1"/>
          <p:nvPr/>
        </p:nvSpPr>
        <p:spPr>
          <a:xfrm>
            <a:off x="3332629" y="3959573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• Django REST Framework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BDC63039-B861-406A-905E-EFA42C31D23F}"/>
              </a:ext>
            </a:extLst>
          </p:cNvPr>
          <p:cNvSpPr/>
          <p:nvPr/>
        </p:nvSpPr>
        <p:spPr>
          <a:xfrm>
            <a:off x="5938669" y="1371600"/>
            <a:ext cx="2651760" cy="5029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7B97B9C9-33FA-4806-A402-7069A66BF29C}"/>
              </a:ext>
            </a:extLst>
          </p:cNvPr>
          <p:cNvSpPr txBox="1"/>
          <p:nvPr/>
        </p:nvSpPr>
        <p:spPr>
          <a:xfrm>
            <a:off x="6121549" y="155448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MySQL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EF858771-346D-4816-9119-2AC1AFFEDACA}"/>
              </a:ext>
            </a:extLst>
          </p:cNvPr>
          <p:cNvSpPr txBox="1"/>
          <p:nvPr/>
        </p:nvSpPr>
        <p:spPr>
          <a:xfrm>
            <a:off x="6121549" y="20116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1B998B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База данных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1DDBB-114B-42D0-B0BC-A179D06B375B}"/>
              </a:ext>
            </a:extLst>
          </p:cNvPr>
          <p:cNvSpPr/>
          <p:nvPr/>
        </p:nvSpPr>
        <p:spPr>
          <a:xfrm>
            <a:off x="6395869" y="2423160"/>
            <a:ext cx="1737360" cy="38100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06D8F591-BE06-40E3-93A2-DC4D731D03BC}"/>
              </a:ext>
            </a:extLst>
          </p:cNvPr>
          <p:cNvSpPr txBox="1"/>
          <p:nvPr/>
        </p:nvSpPr>
        <p:spPr>
          <a:xfrm>
            <a:off x="6212989" y="26060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Реляционная модель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5BD8A75C-59AD-46AB-B1FA-DB3325203338}"/>
              </a:ext>
            </a:extLst>
          </p:cNvPr>
          <p:cNvSpPr txBox="1"/>
          <p:nvPr/>
        </p:nvSpPr>
        <p:spPr>
          <a:xfrm>
            <a:off x="6212989" y="310896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Целостность данных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74884BA0-DE0E-4A1D-AA7D-76FB17DC8EEB}"/>
              </a:ext>
            </a:extLst>
          </p:cNvPr>
          <p:cNvSpPr txBox="1"/>
          <p:nvPr/>
        </p:nvSpPr>
        <p:spPr>
          <a:xfrm>
            <a:off x="6212989" y="3548415"/>
            <a:ext cx="2194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• </a:t>
            </a:r>
            <a:r>
              <a:rPr dirty="0" err="1">
                <a:solidFill>
                  <a:srgbClr val="FF6699"/>
                </a:solidFill>
              </a:rPr>
              <a:t>Высокая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производительность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BD722920-5C3F-4650-A3EF-F3F2184EEA7D}"/>
              </a:ext>
            </a:extLst>
          </p:cNvPr>
          <p:cNvSpPr txBox="1"/>
          <p:nvPr/>
        </p:nvSpPr>
        <p:spPr>
          <a:xfrm>
            <a:off x="6212989" y="411480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Поддержка транзакций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AA242E99-8599-43C7-9643-62A262D9D9F9}"/>
              </a:ext>
            </a:extLst>
          </p:cNvPr>
          <p:cNvSpPr txBox="1"/>
          <p:nvPr/>
        </p:nvSpPr>
        <p:spPr>
          <a:xfrm>
            <a:off x="6212989" y="461772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Гибкая система индексов</a:t>
            </a: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5EDF3011-27D1-4D03-9B2B-99FE0975394A}"/>
              </a:ext>
            </a:extLst>
          </p:cNvPr>
          <p:cNvSpPr/>
          <p:nvPr/>
        </p:nvSpPr>
        <p:spPr>
          <a:xfrm>
            <a:off x="8819029" y="1371600"/>
            <a:ext cx="2651760" cy="50292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0E8B76F3-20B1-4EEC-B813-372797A4533C}"/>
              </a:ext>
            </a:extLst>
          </p:cNvPr>
          <p:cNvSpPr txBox="1"/>
          <p:nvPr/>
        </p:nvSpPr>
        <p:spPr>
          <a:xfrm>
            <a:off x="9001909" y="1554480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FFD54F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HTML/CSS/JS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EAE0AF37-4073-4962-9033-D65662E2EB49}"/>
              </a:ext>
            </a:extLst>
          </p:cNvPr>
          <p:cNvSpPr txBox="1"/>
          <p:nvPr/>
        </p:nvSpPr>
        <p:spPr>
          <a:xfrm>
            <a:off x="9001909" y="201168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1B998B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Клиентская часть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FF05FC-7A27-4C40-B9BD-8C8E6C12794A}"/>
              </a:ext>
            </a:extLst>
          </p:cNvPr>
          <p:cNvSpPr/>
          <p:nvPr/>
        </p:nvSpPr>
        <p:spPr>
          <a:xfrm>
            <a:off x="9276229" y="2423160"/>
            <a:ext cx="1737360" cy="38100"/>
          </a:xfrm>
          <a:prstGeom prst="rect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D1542AB3-9C2C-49D4-B9E5-48159EB0F474}"/>
              </a:ext>
            </a:extLst>
          </p:cNvPr>
          <p:cNvSpPr txBox="1"/>
          <p:nvPr/>
        </p:nvSpPr>
        <p:spPr>
          <a:xfrm>
            <a:off x="9093349" y="26060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Django-шаблоны (SSR)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3A55D0E8-FF9F-4204-9A1C-D7DBBD03DB38}"/>
              </a:ext>
            </a:extLst>
          </p:cNvPr>
          <p:cNvSpPr txBox="1"/>
          <p:nvPr/>
        </p:nvSpPr>
        <p:spPr>
          <a:xfrm>
            <a:off x="9093349" y="310896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Адаптивная вёрстка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A8414A51-7A81-44A2-B6EF-EAD4D82805F1}"/>
              </a:ext>
            </a:extLst>
          </p:cNvPr>
          <p:cNvSpPr txBox="1"/>
          <p:nvPr/>
        </p:nvSpPr>
        <p:spPr>
          <a:xfrm>
            <a:off x="9093349" y="361188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CSS-анимации</a:t>
            </a: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822CC54D-083C-4910-8DD2-04AB20AA5661}"/>
              </a:ext>
            </a:extLst>
          </p:cNvPr>
          <p:cNvSpPr txBox="1"/>
          <p:nvPr/>
        </p:nvSpPr>
        <p:spPr>
          <a:xfrm>
            <a:off x="9093349" y="411480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Интерактивные элементы</a:t>
            </a:r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6D6857D0-7CE6-4C4C-9994-34F83696E1A2}"/>
              </a:ext>
            </a:extLst>
          </p:cNvPr>
          <p:cNvSpPr txBox="1"/>
          <p:nvPr/>
        </p:nvSpPr>
        <p:spPr>
          <a:xfrm>
            <a:off x="9093349" y="461772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• Единый base.html</a:t>
            </a:r>
          </a:p>
        </p:txBody>
      </p:sp>
    </p:spTree>
    <p:extLst>
      <p:ext uri="{BB962C8B-B14F-4D97-AF65-F5344CB8AC3E}">
        <p14:creationId xmlns:p14="http://schemas.microsoft.com/office/powerpoint/2010/main" val="3462536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15DF4-08D9-4BE1-8E29-8EF0B6A46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4513"/>
            <a:ext cx="7054269" cy="430348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E024184E-A032-4F44-8EF4-70323FDB6118}"/>
              </a:ext>
            </a:extLst>
          </p:cNvPr>
          <p:cNvSpPr txBox="1"/>
          <p:nvPr/>
        </p:nvSpPr>
        <p:spPr>
          <a:xfrm>
            <a:off x="6977380" y="236743"/>
            <a:ext cx="10058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Архитектура</a:t>
            </a:r>
            <a:r>
              <a:rPr dirty="0"/>
              <a:t> </a:t>
            </a:r>
            <a:r>
              <a:rPr dirty="0" err="1">
                <a:solidFill>
                  <a:srgbClr val="FF6699"/>
                </a:solidFill>
              </a:rPr>
              <a:t>приложения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455D5-E78D-4C22-8022-B65CE3AA8E4F}"/>
              </a:ext>
            </a:extLst>
          </p:cNvPr>
          <p:cNvSpPr/>
          <p:nvPr/>
        </p:nvSpPr>
        <p:spPr>
          <a:xfrm>
            <a:off x="7955280" y="860128"/>
            <a:ext cx="3657600" cy="381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FF6699"/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EEA6F01-9797-40D1-AC6B-69AC0DC23760}"/>
              </a:ext>
            </a:extLst>
          </p:cNvPr>
          <p:cNvSpPr txBox="1"/>
          <p:nvPr/>
        </p:nvSpPr>
        <p:spPr>
          <a:xfrm>
            <a:off x="2336800" y="13081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1B998B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Клиент-серверная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архитектура</a:t>
            </a:r>
            <a:r>
              <a:rPr dirty="0">
                <a:solidFill>
                  <a:srgbClr val="FF6699"/>
                </a:solidFill>
              </a:rPr>
              <a:t> (Django SSR)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F20CEFB6-5B6B-4425-A660-CDDAD46CF9B5}"/>
              </a:ext>
            </a:extLst>
          </p:cNvPr>
          <p:cNvSpPr/>
          <p:nvPr/>
        </p:nvSpPr>
        <p:spPr>
          <a:xfrm>
            <a:off x="2336800" y="1856740"/>
            <a:ext cx="5029200" cy="128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1D8F5785-3D85-48EA-902E-ED2B9F58BF71}"/>
              </a:ext>
            </a:extLst>
          </p:cNvPr>
          <p:cNvSpPr txBox="1"/>
          <p:nvPr/>
        </p:nvSpPr>
        <p:spPr>
          <a:xfrm>
            <a:off x="2519680" y="194818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1B998B"/>
                </a:solidFill>
                <a:latin typeface="Calibri"/>
              </a:defRPr>
            </a:pPr>
            <a:r>
              <a:rPr dirty="0">
                <a:solidFill>
                  <a:srgbClr val="00B050"/>
                </a:solidFill>
              </a:rPr>
              <a:t>КЛИЕНТ (</a:t>
            </a:r>
            <a:r>
              <a:rPr dirty="0" err="1">
                <a:solidFill>
                  <a:srgbClr val="00B050"/>
                </a:solidFill>
              </a:rPr>
              <a:t>Браузер</a:t>
            </a:r>
            <a:r>
              <a:rPr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5D0D4ECE-B4A4-490F-B1F7-0CB58FB66C0F}"/>
              </a:ext>
            </a:extLst>
          </p:cNvPr>
          <p:cNvSpPr txBox="1"/>
          <p:nvPr/>
        </p:nvSpPr>
        <p:spPr>
          <a:xfrm>
            <a:off x="4348480" y="199390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HTML-шаблоны Django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CSS-стили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JavaScript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9125A290-CABC-4AAE-875B-72F304E6D9B3}"/>
              </a:ext>
            </a:extLst>
          </p:cNvPr>
          <p:cNvSpPr txBox="1"/>
          <p:nvPr/>
        </p:nvSpPr>
        <p:spPr>
          <a:xfrm>
            <a:off x="4348480" y="3108236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⇅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8BCFA939-9299-41FE-981C-2E0CE11E7239}"/>
              </a:ext>
            </a:extLst>
          </p:cNvPr>
          <p:cNvSpPr/>
          <p:nvPr/>
        </p:nvSpPr>
        <p:spPr>
          <a:xfrm>
            <a:off x="2336800" y="3411220"/>
            <a:ext cx="5029200" cy="128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CE2C5EA4-8403-461C-AC62-DD341DBEE427}"/>
              </a:ext>
            </a:extLst>
          </p:cNvPr>
          <p:cNvSpPr txBox="1"/>
          <p:nvPr/>
        </p:nvSpPr>
        <p:spPr>
          <a:xfrm>
            <a:off x="2519680" y="3502660"/>
            <a:ext cx="1828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E67E22"/>
                </a:solidFill>
                <a:latin typeface="Calibri"/>
              </a:defRPr>
            </a:pPr>
            <a:r>
              <a:rPr dirty="0">
                <a:solidFill>
                  <a:srgbClr val="0070C0"/>
                </a:solidFill>
              </a:rPr>
              <a:t>СЕРВЕР (Django)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5F9E30E-79F8-4BF2-AEAA-204C980A4574}"/>
              </a:ext>
            </a:extLst>
          </p:cNvPr>
          <p:cNvSpPr txBox="1"/>
          <p:nvPr/>
        </p:nvSpPr>
        <p:spPr>
          <a:xfrm>
            <a:off x="4348480" y="3548380"/>
            <a:ext cx="274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Views · Models · Forms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URLs · Templates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Apps: catalog, cart,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orders, users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5CB849B-E319-41FA-B331-198F7BABBD45}"/>
              </a:ext>
            </a:extLst>
          </p:cNvPr>
          <p:cNvSpPr txBox="1"/>
          <p:nvPr/>
        </p:nvSpPr>
        <p:spPr>
          <a:xfrm>
            <a:off x="4348480" y="4650232"/>
            <a:ext cx="91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rPr dirty="0">
                <a:solidFill>
                  <a:srgbClr val="FF6699"/>
                </a:solidFill>
              </a:rPr>
              <a:t>⇅</a:t>
            </a:r>
          </a:p>
        </p:txBody>
      </p:sp>
      <p:sp>
        <p:nvSpPr>
          <p:cNvPr id="15" name="Rounded Rectangle 13">
            <a:extLst>
              <a:ext uri="{FF2B5EF4-FFF2-40B4-BE49-F238E27FC236}">
                <a16:creationId xmlns:a16="http://schemas.microsoft.com/office/drawing/2014/main" id="{2021C98F-34E6-49D6-A61F-4C4AA32D7E28}"/>
              </a:ext>
            </a:extLst>
          </p:cNvPr>
          <p:cNvSpPr/>
          <p:nvPr/>
        </p:nvSpPr>
        <p:spPr>
          <a:xfrm>
            <a:off x="2336800" y="4965700"/>
            <a:ext cx="5029200" cy="1280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FF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09D8FEFA-7D67-4E2C-8C2E-1813F76CB3AA}"/>
              </a:ext>
            </a:extLst>
          </p:cNvPr>
          <p:cNvSpPr txBox="1"/>
          <p:nvPr/>
        </p:nvSpPr>
        <p:spPr>
          <a:xfrm>
            <a:off x="2519680" y="50571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БАЗА ДАННЫХ (MySQL)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DFBC4802-9AAB-418E-B65B-FBD6DE023A8F}"/>
              </a:ext>
            </a:extLst>
          </p:cNvPr>
          <p:cNvSpPr txBox="1"/>
          <p:nvPr/>
        </p:nvSpPr>
        <p:spPr>
          <a:xfrm>
            <a:off x="4348480" y="5102860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200" b="0">
                <a:solidFill>
                  <a:srgbClr val="B0BEC5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Пользователи</a:t>
            </a:r>
            <a:r>
              <a:rPr dirty="0">
                <a:solidFill>
                  <a:srgbClr val="FF6699"/>
                </a:solidFill>
              </a:rPr>
              <a:t> · </a:t>
            </a:r>
            <a:r>
              <a:rPr dirty="0" err="1">
                <a:solidFill>
                  <a:srgbClr val="FF6699"/>
                </a:solidFill>
              </a:rPr>
              <a:t>Категории</a:t>
            </a:r>
            <a:br>
              <a:rPr dirty="0">
                <a:solidFill>
                  <a:srgbClr val="FF6699"/>
                </a:solidFill>
              </a:rPr>
            </a:br>
            <a:r>
              <a:rPr dirty="0" err="1">
                <a:solidFill>
                  <a:srgbClr val="FF6699"/>
                </a:solidFill>
              </a:rPr>
              <a:t>Товары</a:t>
            </a:r>
            <a:r>
              <a:rPr dirty="0">
                <a:solidFill>
                  <a:srgbClr val="FF6699"/>
                </a:solidFill>
              </a:rPr>
              <a:t> · </a:t>
            </a:r>
            <a:r>
              <a:rPr dirty="0" err="1">
                <a:solidFill>
                  <a:srgbClr val="FF6699"/>
                </a:solidFill>
              </a:rPr>
              <a:t>Изображения</a:t>
            </a:r>
            <a:br>
              <a:rPr dirty="0">
                <a:solidFill>
                  <a:srgbClr val="FF6699"/>
                </a:solidFill>
              </a:rPr>
            </a:br>
            <a:r>
              <a:rPr dirty="0" err="1">
                <a:solidFill>
                  <a:srgbClr val="FF6699"/>
                </a:solidFill>
              </a:rPr>
              <a:t>Корзины</a:t>
            </a:r>
            <a:r>
              <a:rPr dirty="0">
                <a:solidFill>
                  <a:srgbClr val="FF6699"/>
                </a:solidFill>
              </a:rPr>
              <a:t> · </a:t>
            </a:r>
            <a:r>
              <a:rPr dirty="0" err="1">
                <a:solidFill>
                  <a:srgbClr val="FF6699"/>
                </a:solidFill>
              </a:rPr>
              <a:t>Заказы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02B101-83CC-4AE8-96C0-38518F0D0CF8}"/>
              </a:ext>
            </a:extLst>
          </p:cNvPr>
          <p:cNvSpPr txBox="1"/>
          <p:nvPr/>
        </p:nvSpPr>
        <p:spPr>
          <a:xfrm>
            <a:off x="7823200" y="18567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apps/catalog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1A59807E-4BB9-426A-867A-7527FB1B9FBA}"/>
              </a:ext>
            </a:extLst>
          </p:cNvPr>
          <p:cNvSpPr txBox="1"/>
          <p:nvPr/>
        </p:nvSpPr>
        <p:spPr>
          <a:xfrm>
            <a:off x="7823200" y="25151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apps/cart</a:t>
            </a: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426D4159-1BE4-4851-9B1B-38939CE6CDDB}"/>
              </a:ext>
            </a:extLst>
          </p:cNvPr>
          <p:cNvSpPr txBox="1"/>
          <p:nvPr/>
        </p:nvSpPr>
        <p:spPr>
          <a:xfrm>
            <a:off x="7823200" y="31734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apps/orders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9C4BF151-B0BF-4D1B-81A4-D42A31FA4368}"/>
              </a:ext>
            </a:extLst>
          </p:cNvPr>
          <p:cNvSpPr txBox="1"/>
          <p:nvPr/>
        </p:nvSpPr>
        <p:spPr>
          <a:xfrm>
            <a:off x="7823200" y="38318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apps/users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392F0056-EF47-401E-8C6D-34040C2E1EDA}"/>
              </a:ext>
            </a:extLst>
          </p:cNvPr>
          <p:cNvSpPr txBox="1"/>
          <p:nvPr/>
        </p:nvSpPr>
        <p:spPr>
          <a:xfrm>
            <a:off x="7823200" y="44902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furniture_shop</a:t>
            </a:r>
          </a:p>
        </p:txBody>
      </p:sp>
      <p:sp>
        <p:nvSpPr>
          <p:cNvPr id="23" name="TextBox 27">
            <a:extLst>
              <a:ext uri="{FF2B5EF4-FFF2-40B4-BE49-F238E27FC236}">
                <a16:creationId xmlns:a16="http://schemas.microsoft.com/office/drawing/2014/main" id="{17A92541-9621-45F9-9CC5-6AC7DF1A0A2A}"/>
              </a:ext>
            </a:extLst>
          </p:cNvPr>
          <p:cNvSpPr txBox="1"/>
          <p:nvPr/>
        </p:nvSpPr>
        <p:spPr>
          <a:xfrm>
            <a:off x="7823200" y="51485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templates</a:t>
            </a:r>
          </a:p>
        </p:txBody>
      </p:sp>
      <p:sp>
        <p:nvSpPr>
          <p:cNvPr id="24" name="TextBox 29">
            <a:extLst>
              <a:ext uri="{FF2B5EF4-FFF2-40B4-BE49-F238E27FC236}">
                <a16:creationId xmlns:a16="http://schemas.microsoft.com/office/drawing/2014/main" id="{0C2C8A17-2A20-4086-8875-5D6E7937B5A8}"/>
              </a:ext>
            </a:extLst>
          </p:cNvPr>
          <p:cNvSpPr txBox="1"/>
          <p:nvPr/>
        </p:nvSpPr>
        <p:spPr>
          <a:xfrm>
            <a:off x="7823200" y="58069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FFD54F"/>
                </a:solidFill>
                <a:latin typeface="Calibri"/>
              </a:defRPr>
            </a:pPr>
            <a:r>
              <a:t>📁 static / media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107B8A73-D0E0-498B-813B-437151B7C068}"/>
              </a:ext>
            </a:extLst>
          </p:cNvPr>
          <p:cNvSpPr txBox="1"/>
          <p:nvPr/>
        </p:nvSpPr>
        <p:spPr>
          <a:xfrm>
            <a:off x="7823200" y="1248777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1B998B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Модульная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структура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проекта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926F0AF8-F593-4643-9493-D5C8BE30F838}"/>
              </a:ext>
            </a:extLst>
          </p:cNvPr>
          <p:cNvSpPr txBox="1"/>
          <p:nvPr/>
        </p:nvSpPr>
        <p:spPr>
          <a:xfrm>
            <a:off x="9364980" y="1778851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Каталог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товаров</a:t>
            </a:r>
            <a:r>
              <a:rPr dirty="0">
                <a:solidFill>
                  <a:srgbClr val="FF6699"/>
                </a:solidFill>
              </a:rPr>
              <a:t>, </a:t>
            </a:r>
            <a:r>
              <a:rPr dirty="0" err="1">
                <a:solidFill>
                  <a:srgbClr val="FF6699"/>
                </a:solidFill>
              </a:rPr>
              <a:t>категории</a:t>
            </a:r>
            <a:r>
              <a:rPr dirty="0">
                <a:solidFill>
                  <a:srgbClr val="FF6699"/>
                </a:solidFill>
              </a:rPr>
              <a:t>,</a:t>
            </a:r>
            <a:br>
              <a:rPr dirty="0">
                <a:solidFill>
                  <a:srgbClr val="FF6699"/>
                </a:solidFill>
              </a:rPr>
            </a:br>
            <a:r>
              <a:rPr dirty="0" err="1">
                <a:solidFill>
                  <a:srgbClr val="FF6699"/>
                </a:solidFill>
              </a:rPr>
              <a:t>изображения</a:t>
            </a:r>
            <a:r>
              <a:rPr dirty="0">
                <a:solidFill>
                  <a:srgbClr val="FF6699"/>
                </a:solidFill>
              </a:rPr>
              <a:t>, </a:t>
            </a:r>
            <a:r>
              <a:rPr dirty="0" err="1">
                <a:solidFill>
                  <a:srgbClr val="FF6699"/>
                </a:solidFill>
              </a:rPr>
              <a:t>фильтрация</a:t>
            </a:r>
            <a:r>
              <a:rPr dirty="0">
                <a:solidFill>
                  <a:srgbClr val="FF6699"/>
                </a:solidFill>
              </a:rPr>
              <a:t>, </a:t>
            </a:r>
            <a:r>
              <a:rPr dirty="0" err="1">
                <a:solidFill>
                  <a:srgbClr val="FF6699"/>
                </a:solidFill>
              </a:rPr>
              <a:t>поиск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92BA7CED-22B2-43A4-A222-A52B746AB5E6}"/>
              </a:ext>
            </a:extLst>
          </p:cNvPr>
          <p:cNvSpPr txBox="1"/>
          <p:nvPr/>
        </p:nvSpPr>
        <p:spPr>
          <a:xfrm>
            <a:off x="9364980" y="2437219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 dirty="0" err="1">
                <a:solidFill>
                  <a:srgbClr val="FF6699"/>
                </a:solidFill>
              </a:rPr>
              <a:t>Корзина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пользователя</a:t>
            </a:r>
            <a:r>
              <a:rPr dirty="0">
                <a:solidFill>
                  <a:srgbClr val="FF6699"/>
                </a:solidFill>
              </a:rPr>
              <a:t>,</a:t>
            </a:r>
            <a:br>
              <a:rPr dirty="0">
                <a:solidFill>
                  <a:srgbClr val="FF6699"/>
                </a:solidFill>
              </a:rPr>
            </a:br>
            <a:r>
              <a:rPr dirty="0" err="1">
                <a:solidFill>
                  <a:srgbClr val="FF6699"/>
                </a:solidFill>
              </a:rPr>
              <a:t>добавление</a:t>
            </a:r>
            <a:r>
              <a:rPr dirty="0">
                <a:solidFill>
                  <a:srgbClr val="FF6699"/>
                </a:solidFill>
              </a:rPr>
              <a:t>/</a:t>
            </a:r>
            <a:r>
              <a:rPr dirty="0" err="1">
                <a:solidFill>
                  <a:srgbClr val="FF6699"/>
                </a:solidFill>
              </a:rPr>
              <a:t>удаление</a:t>
            </a:r>
            <a:r>
              <a:rPr dirty="0">
                <a:solidFill>
                  <a:srgbClr val="FF6699"/>
                </a:solidFill>
              </a:rPr>
              <a:t> </a:t>
            </a:r>
            <a:r>
              <a:rPr dirty="0" err="1">
                <a:solidFill>
                  <a:srgbClr val="FF6699"/>
                </a:solidFill>
              </a:rPr>
              <a:t>товаров</a:t>
            </a:r>
            <a:endParaRPr dirty="0">
              <a:solidFill>
                <a:srgbClr val="FF6699"/>
              </a:solidFill>
            </a:endParaRP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5F144216-0931-4220-B6B4-2A00C1772C4E}"/>
              </a:ext>
            </a:extLst>
          </p:cNvPr>
          <p:cNvSpPr txBox="1"/>
          <p:nvPr/>
        </p:nvSpPr>
        <p:spPr>
          <a:xfrm>
            <a:off x="9364980" y="3095587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Оформление заказов,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история покупок</a:t>
            </a: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144E4733-1598-4731-BD21-D56584239694}"/>
              </a:ext>
            </a:extLst>
          </p:cNvPr>
          <p:cNvSpPr txBox="1"/>
          <p:nvPr/>
        </p:nvSpPr>
        <p:spPr>
          <a:xfrm>
            <a:off x="9364980" y="3753955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Регистрация, авторизация,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профиль пользователя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BEF87EEC-2E10-49DF-BDA0-77599333F907}"/>
              </a:ext>
            </a:extLst>
          </p:cNvPr>
          <p:cNvSpPr txBox="1"/>
          <p:nvPr/>
        </p:nvSpPr>
        <p:spPr>
          <a:xfrm>
            <a:off x="9364980" y="4412323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Настройки Django-проекта,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маршруты, конфигурация</a:t>
            </a: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E7BBF59D-C3F2-493F-BA4F-D7191C506E32}"/>
              </a:ext>
            </a:extLst>
          </p:cNvPr>
          <p:cNvSpPr txBox="1"/>
          <p:nvPr/>
        </p:nvSpPr>
        <p:spPr>
          <a:xfrm>
            <a:off x="9364980" y="5070691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HTML-шаблоны, base.html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и страницы приложений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7124C9C0-A84F-41F4-85A3-A348FB2D0E99}"/>
              </a:ext>
            </a:extLst>
          </p:cNvPr>
          <p:cNvSpPr txBox="1"/>
          <p:nvPr/>
        </p:nvSpPr>
        <p:spPr>
          <a:xfrm>
            <a:off x="9364980" y="5729059"/>
            <a:ext cx="3200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00" b="0">
                <a:solidFill>
                  <a:srgbClr val="B0BEC5"/>
                </a:solidFill>
                <a:latin typeface="Calibri"/>
              </a:defRPr>
            </a:pPr>
            <a:r>
              <a:rPr>
                <a:solidFill>
                  <a:srgbClr val="FF6699"/>
                </a:solidFill>
              </a:rPr>
              <a:t>CSS, JS, иконки;</a:t>
            </a:r>
            <a:br>
              <a:rPr>
                <a:solidFill>
                  <a:srgbClr val="FF6699"/>
                </a:solidFill>
              </a:rPr>
            </a:br>
            <a:r>
              <a:rPr>
                <a:solidFill>
                  <a:srgbClr val="FF6699"/>
                </a:solidFill>
              </a:rPr>
              <a:t>изображения товаров</a:t>
            </a:r>
          </a:p>
        </p:txBody>
      </p:sp>
    </p:spTree>
    <p:extLst>
      <p:ext uri="{BB962C8B-B14F-4D97-AF65-F5344CB8AC3E}">
        <p14:creationId xmlns:p14="http://schemas.microsoft.com/office/powerpoint/2010/main" val="1077186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15DF4-08D9-4BE1-8E29-8EF0B6A46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4513"/>
            <a:ext cx="7054269" cy="43034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FB305F-F606-4BCF-8831-75CDE6277B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84" y="391665"/>
            <a:ext cx="5161744" cy="3629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70259-76A9-46C1-AF1C-724C655E2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524" y="3132441"/>
            <a:ext cx="6380476" cy="314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3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15DF4-08D9-4BE1-8E29-8EF0B6A46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4513"/>
            <a:ext cx="7054269" cy="43034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FF19EB-2055-49AF-BD86-3CFB1BEAD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691" y="369277"/>
            <a:ext cx="5369579" cy="6119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743EAE-686C-4897-9FFC-C79CCD304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4" y="745496"/>
            <a:ext cx="6048356" cy="361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4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761E948-0423-40F5-9052-56380EA84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2" y="814022"/>
            <a:ext cx="6315075" cy="58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984E5E-504D-4C8F-B2AC-A8B468B00540}"/>
              </a:ext>
            </a:extLst>
          </p:cNvPr>
          <p:cNvSpPr txBox="1"/>
          <p:nvPr/>
        </p:nvSpPr>
        <p:spPr>
          <a:xfrm>
            <a:off x="2684583" y="656491"/>
            <a:ext cx="68228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361023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391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Calibri Light (Headings)</vt:lpstr>
      <vt:lpstr>Office Theme</vt:lpstr>
      <vt:lpstr>        Курсовая работа тема: разработка web‑сервиса
«Интернет-магазин мебели»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тема: разработка web‑сервиса
«Интернет-магазин мебели»</dc:title>
  <dc:creator>Arisha</dc:creator>
  <cp:lastModifiedBy>Arisha</cp:lastModifiedBy>
  <cp:revision>24</cp:revision>
  <dcterms:created xsi:type="dcterms:W3CDTF">2026-05-05T15:18:32Z</dcterms:created>
  <dcterms:modified xsi:type="dcterms:W3CDTF">2026-05-05T16:38:55Z</dcterms:modified>
</cp:coreProperties>
</file>